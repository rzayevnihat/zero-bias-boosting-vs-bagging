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1054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4096" y="845820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Ensemble Methods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794096" y="139446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Boosting vs Bagging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2821528" y="2034540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CDEAFE"/>
                </a:solidFill>
              </a:rPr>
              <a:t>From-scratch Decision Tree, AdaBoost, Random Forest, PCA, K-Means, and DBSCAN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821528" y="26746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AI Academy · National AI Center · Spring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21792" y="6144768"/>
            <a:ext cx="941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İbrahim Mammadov · Nihat Rzayev · Fatma Mammadova · Fidan Allahverdiyeva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653796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Ensemble Methods: Boosting vs Bagging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Research question and motivation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326880" y="2834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Problem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az-Latn-AZ"/>
          </a:p>
        </p:txBody>
      </p:sp>
      <p:sp>
        <p:nvSpPr>
          <p:cNvPr id="5" name="Text 3"/>
          <p:cNvSpPr/>
          <p:nvPr/>
        </p:nvSpPr>
        <p:spPr>
          <a:xfrm>
            <a:off x="685800" y="9601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1F3A"/>
                </a:solidFill>
              </a:rPr>
              <a:t>When does boosting outperform bagging, and when is bagging safer?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516636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600" dirty="0">
                <a:solidFill>
                  <a:srgbClr val="0F172A"/>
                </a:solidFill>
              </a:rPr>
              <a:t>Boosting learns sequentially from errors; it can reduce bias but may chase mislabeled samples.</a:t>
            </a:r>
            <a:endParaRPr lang="en-US" sz="1600" dirty="0"/>
          </a:p>
          <a:p>
            <a:r>
              <a:rPr lang="en-US" sz="1600" dirty="0">
                <a:solidFill>
                  <a:srgbClr val="0F172A"/>
                </a:solidFill>
              </a:rPr>
              <a:t>Bagging trains independent models on bootstrap samples; it mainly reduces variance.</a:t>
            </a:r>
            <a:endParaRPr lang="en-US" sz="1600" dirty="0"/>
          </a:p>
          <a:p>
            <a:r>
              <a:rPr lang="en-US" sz="1600" dirty="0">
                <a:solidFill>
                  <a:srgbClr val="0F172A"/>
                </a:solidFill>
              </a:rPr>
              <a:t>The comparison must consider noise, imbalance, dimensionality, runtime, and stability.</a:t>
            </a:r>
            <a:endParaRPr lang="en-US" sz="1600" dirty="0"/>
          </a:p>
        </p:txBody>
      </p:sp>
      <p:pic>
        <p:nvPicPr>
          <p:cNvPr id="7" name="Image 0" descr="/mnt/data/final_generated_v3/figures/bias_variance_de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494" y="1417320"/>
            <a:ext cx="5093252" cy="2880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49377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97316"/>
                </a:solidFill>
              </a:rPr>
              <a:t>Core defense line: boosting lowers bias; bagging lowers variance.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502920" y="653796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Ensemble Methods: Boosting vs Bagging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Data, preprocessing, and reproducibility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326880" y="2834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Pipeline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az-Latn-AZ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475488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500" dirty="0">
                <a:solidFill>
                  <a:srgbClr val="0F172A"/>
                </a:solidFill>
              </a:rPr>
              <a:t>Local data files prepared by download scripts: WDBC, Adult, Covertype, MNIST 3-vs-8.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Train/test splits use fixed random_state and stratification.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Scaler is fitted on training data only to avoid leakage.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Raw dataset files are reproducible and should not be committed.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806440" y="1005840"/>
            <a:ext cx="530352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   |   Task   |   Size / features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WDBC   |   binary   |   569 / 30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Adult   |   binary   |   5,000 / 14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Covertype   |   multi/imb.   |   5,000-10,000 / 54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MNIST 3-vs-8   |   binary   |   5,000 / 784</a:t>
            </a:r>
            <a:endParaRPr lang="en-US" sz="1100" dirty="0"/>
          </a:p>
        </p:txBody>
      </p:sp>
      <p:pic>
        <p:nvPicPr>
          <p:cNvPr id="7" name="Image 0" descr="/mnt/data/final_generated_v3/figures/unsupervised_pca_pro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360" y="3703320"/>
            <a:ext cx="2804160" cy="2103120"/>
          </a:xfrm>
          <a:prstGeom prst="rect">
            <a:avLst/>
          </a:prstGeom>
        </p:spPr>
      </p:pic>
      <p:pic>
        <p:nvPicPr>
          <p:cNvPr id="8" name="Image 1" descr="/mnt/data/final_generated_v3/figures/unsupervised_pca_sc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3726180"/>
            <a:ext cx="3291840" cy="2057400"/>
          </a:xfrm>
          <a:prstGeom prst="rect">
            <a:avLst/>
          </a:prstGeom>
        </p:spPr>
      </p:pic>
      <p:pic>
        <p:nvPicPr>
          <p:cNvPr id="9" name="Image 2" descr="/mnt/data/final_generated_v3/figures/unsupervised_kmeans_elb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3726180"/>
            <a:ext cx="3291840" cy="2057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02920" y="653796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Ensemble Methods: Boosting vs Bagging</a:t>
            </a:r>
            <a:endParaRPr lang="en-US" sz="750" dirty="0"/>
          </a:p>
        </p:txBody>
      </p:sp>
      <p:sp>
        <p:nvSpPr>
          <p:cNvPr id="11" name="Text 6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Repository architecture and work split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326880" y="2834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Implementation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az-Latn-AZ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5669280" cy="2788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50" dirty="0">
                <a:solidFill>
                  <a:srgbClr val="0F172A"/>
                </a:solidFill>
              </a:rPr>
              <a:t>trees/: CART Decision Tree, impurity, splitter, stopping logic.</a:t>
            </a:r>
            <a:endParaRPr lang="en-US" sz="1350" dirty="0"/>
          </a:p>
          <a:p>
            <a:r>
              <a:rPr lang="en-US" sz="1350" dirty="0">
                <a:solidFill>
                  <a:srgbClr val="0F172A"/>
                </a:solidFill>
              </a:rPr>
              <a:t>boosting/: AdaBoost, SAMME/SAMME.R, Gradient Boosting bonus.</a:t>
            </a:r>
            <a:endParaRPr lang="en-US" sz="1350" dirty="0"/>
          </a:p>
          <a:p>
            <a:r>
              <a:rPr lang="en-US" sz="1350" dirty="0">
                <a:solidFill>
                  <a:srgbClr val="0F172A"/>
                </a:solidFill>
              </a:rPr>
              <a:t>bagging/: RandomForestClassifier with OOB and multiprocessing.</a:t>
            </a:r>
            <a:endParaRPr lang="en-US" sz="1350" dirty="0"/>
          </a:p>
          <a:p>
            <a:r>
              <a:rPr lang="en-US" sz="1350" dirty="0">
                <a:solidFill>
                  <a:srgbClr val="0F172A"/>
                </a:solidFill>
              </a:rPr>
              <a:t>unsupervised/: PCA, K-Means, DBSCAN.</a:t>
            </a:r>
            <a:endParaRPr lang="en-US" sz="1350" dirty="0"/>
          </a:p>
          <a:p>
            <a:r>
              <a:rPr lang="en-US" sz="1350" dirty="0">
                <a:solidFill>
                  <a:srgbClr val="0F172A"/>
                </a:solidFill>
              </a:rPr>
              <a:t>experiments/: run_all, scaling, noise, CV, bias-variance, QA.</a:t>
            </a:r>
            <a:endParaRPr lang="en-US" sz="1350" dirty="0"/>
          </a:p>
          <a:p>
            <a:r>
              <a:rPr lang="en-US" sz="1350" dirty="0">
                <a:solidFill>
                  <a:srgbClr val="0F172A"/>
                </a:solidFill>
              </a:rPr>
              <a:t>tests/: 151 passed, 1 skipped in latest local verification.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12280" y="1335023"/>
            <a:ext cx="4526280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00" dirty="0">
                <a:solidFill>
                  <a:srgbClr val="0F172A"/>
                </a:solidFill>
              </a:rPr>
              <a:t>All main ML algorithms are implemented from scratch.</a:t>
            </a:r>
            <a:endParaRPr lang="en-US" sz="1400" dirty="0"/>
          </a:p>
          <a:p>
            <a:r>
              <a:rPr lang="en-US" sz="1400" dirty="0">
                <a:solidFill>
                  <a:srgbClr val="0F172A"/>
                </a:solidFill>
              </a:rPr>
              <a:t>scikit-learn is used only for utilities, metrics, splitting, and references.</a:t>
            </a:r>
            <a:endParaRPr lang="en-US" sz="1400" dirty="0"/>
          </a:p>
          <a:p>
            <a:r>
              <a:rPr lang="en-US" sz="1400" dirty="0">
                <a:solidFill>
                  <a:srgbClr val="0F172A"/>
                </a:solidFill>
              </a:rPr>
              <a:t>Deliverables include code, tests, report, slides, notebooks, figures, and contribution report.</a:t>
            </a:r>
            <a:endParaRPr lang="en-US" sz="1400" dirty="0"/>
          </a:p>
        </p:txBody>
      </p:sp>
      <p:pic>
        <p:nvPicPr>
          <p:cNvPr id="7" name="Image 0" descr="/mnt/data/final_generated_v3/figures/gbm_comparison_metr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07" y="3377414"/>
            <a:ext cx="7832785" cy="313311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653796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Ensemble Methods: Boosting vs Bagging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 Tree baseline validates the foundation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326880" y="2834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Decision Tree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az-Latn-AZ"/>
          </a:p>
        </p:txBody>
      </p:sp>
      <p:sp>
        <p:nvSpPr>
          <p:cNvPr id="5" name="Text 3"/>
          <p:cNvSpPr/>
          <p:nvPr/>
        </p:nvSpPr>
        <p:spPr>
          <a:xfrm>
            <a:off x="594360" y="1051560"/>
            <a:ext cx="429768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500" dirty="0">
                <a:solidFill>
                  <a:srgbClr val="0F172A"/>
                </a:solidFill>
              </a:rPr>
              <a:t>CART-style binary split: x_j &lt;= threshold.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Criteria: Gini and entropy.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Best split maximizes weighted impurity reduction.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Sample-weight support enables AdaBoost.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3977640"/>
            <a:ext cx="420624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  |   Acc   |   Macro F1   |   AUC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MyTree   |   0.930   |   0.924   |   0.920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MyStump   |   0.877   |   0.860   |   0.843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 ref   |   0.930   |   0.925   |   0.925</a:t>
            </a:r>
            <a:endParaRPr lang="en-US" sz="1200" dirty="0"/>
          </a:p>
        </p:txBody>
      </p:sp>
      <p:pic>
        <p:nvPicPr>
          <p:cNvPr id="7" name="Image 0" descr="/mnt/data/final_generated_v3/figures/adaboost_scaling_wd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417320"/>
            <a:ext cx="6217920" cy="3886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653796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Ensemble Methods: Boosting vs Bagging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AdaBoost scaling: sequential error correction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326880" y="2834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Boosting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az-Latn-AZ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39319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500" dirty="0">
                <a:solidFill>
                  <a:srgbClr val="0F172A"/>
                </a:solidFill>
              </a:rPr>
              <a:t>Decision stumps are weak learners.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Misclassified samples receive larger weights.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Estimator vote weight depends on weighted error.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Strength: clean structured data. Risk: noisy labels.</a:t>
            </a:r>
            <a:endParaRPr lang="en-US" sz="1500" dirty="0"/>
          </a:p>
        </p:txBody>
      </p:sp>
      <p:pic>
        <p:nvPicPr>
          <p:cNvPr id="6" name="Image 0" descr="/mnt/data/final_generated_v3/figures/adaboost_scaling_wd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022985"/>
            <a:ext cx="3383280" cy="2114550"/>
          </a:xfrm>
          <a:prstGeom prst="rect">
            <a:avLst/>
          </a:prstGeom>
        </p:spPr>
      </p:pic>
      <p:pic>
        <p:nvPicPr>
          <p:cNvPr id="7" name="Image 1" descr="/mnt/data/final_generated_v3/figures/adaboost_scaling_ad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4423"/>
            <a:ext cx="3154680" cy="1971675"/>
          </a:xfrm>
          <a:prstGeom prst="rect">
            <a:avLst/>
          </a:prstGeom>
        </p:spPr>
      </p:pic>
      <p:pic>
        <p:nvPicPr>
          <p:cNvPr id="8" name="Image 2" descr="/mnt/data/final_generated_v3/figures/adaboost_scaling_coverty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3657600"/>
            <a:ext cx="3218688" cy="20116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02920" y="653796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Ensemble Methods: Boosting vs Bagging</a:t>
            </a:r>
            <a:endParaRPr lang="en-US" sz="750" dirty="0"/>
          </a:p>
        </p:txBody>
      </p:sp>
      <p:sp>
        <p:nvSpPr>
          <p:cNvPr id="10" name="Text 5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Person 3 focus: Random Forest internals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326880" y="2834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Random Forest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az-Latn-AZ"/>
          </a:p>
        </p:txBody>
      </p:sp>
      <p:sp>
        <p:nvSpPr>
          <p:cNvPr id="5" name="Text 3"/>
          <p:cNvSpPr/>
          <p:nvPr/>
        </p:nvSpPr>
        <p:spPr>
          <a:xfrm>
            <a:off x="822960" y="10515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D4ED8"/>
                </a:solidFill>
              </a:rPr>
              <a:t>~63.2%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22960" y="14538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unique in-bag rows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383280" y="10515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97316"/>
                </a:solidFill>
              </a:rPr>
              <a:t>~36.8%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3383280" y="14538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out-of-bag rows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943600" y="10515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6A34A"/>
                </a:solidFill>
              </a:rPr>
              <a:t>sqrt(p)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943600" y="14538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features per node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503920" y="10515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1F3A"/>
                </a:solidFill>
              </a:rPr>
              <a:t>hard vote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503920" y="14538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predict()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68680" y="2331720"/>
            <a:ext cx="1033272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500" dirty="0">
                <a:solidFill>
                  <a:srgbClr val="0F172A"/>
                </a:solidFill>
              </a:rPr>
              <a:t>Each tree is trained on a bootstrap sample with replacement.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Every node searches only a random subset of features to reduce tree correlation.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OOB score uses trees that did not see a sample during training.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Key QA edge case: a tree may miss a rare class; probabilities are aligned to global classes.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5074920"/>
            <a:ext cx="10149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97316"/>
                </a:solidFill>
              </a:rPr>
              <a:t>Implementation: private CART tree + RandomForestClassifier + process-based multiprocessing.Pool.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02920" y="653796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Ensemble Methods: Boosting vs Bagging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Random Forest scaling: estimators and depth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326880" y="2834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Random Forest results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az-Latn-AZ"/>
          </a:p>
        </p:txBody>
      </p:sp>
      <p:pic>
        <p:nvPicPr>
          <p:cNvPr id="5" name="Image 0" descr="/mnt/data/final_generated_v3/figures/rf_scaling_n_estimat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08862"/>
            <a:ext cx="5532120" cy="3380740"/>
          </a:xfrm>
          <a:prstGeom prst="rect">
            <a:avLst/>
          </a:prstGeom>
        </p:spPr>
      </p:pic>
      <p:pic>
        <p:nvPicPr>
          <p:cNvPr id="6" name="Image 1" descr="/mnt/data/final_generated_v3/figures/rf_scaling_max_dep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392682"/>
            <a:ext cx="5257800" cy="32131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5532120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F3A"/>
                </a:solidFill>
              </a:rPr>
              <a:t>Increasing trees stabilizes OOB/test curves; depth controls underfitting vs. individual-tree variance.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02920" y="653796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Ensemble Methods: Boosting vs Bagging</a:t>
            </a:r>
            <a:endParaRPr lang="en-US" sz="750" dirty="0"/>
          </a:p>
        </p:txBody>
      </p:sp>
      <p:sp>
        <p:nvSpPr>
          <p:cNvPr id="9" name="Text 5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Head-to-head CV: fixed estimator resources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326880" y="2834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Comparison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az-Latn-AZ"/>
          </a:p>
        </p:txBody>
      </p:sp>
      <p:pic>
        <p:nvPicPr>
          <p:cNvPr id="5" name="Image 0" descr="/mnt/data/final_generated_v3/figures/head_to_head_macro_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69314"/>
            <a:ext cx="6126480" cy="39822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86600" y="1234440"/>
            <a:ext cx="434340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   |   AdaBoost   |   RF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WDBC   |   0.967   |   0.956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Adult   |   0.848   |   0.849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Covertype   |   0.483   |   0.829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132320" y="3474720"/>
            <a:ext cx="41605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00" dirty="0">
                <a:solidFill>
                  <a:srgbClr val="0F172A"/>
                </a:solidFill>
              </a:rPr>
              <a:t>WDBC: both models are strong.</a:t>
            </a:r>
            <a:endParaRPr lang="en-US" sz="1400" dirty="0"/>
          </a:p>
          <a:p>
            <a:r>
              <a:rPr lang="en-US" sz="1400" dirty="0">
                <a:solidFill>
                  <a:srgbClr val="0F172A"/>
                </a:solidFill>
              </a:rPr>
              <a:t>Adult: close performance.</a:t>
            </a:r>
            <a:endParaRPr lang="en-US" sz="1400" dirty="0"/>
          </a:p>
          <a:p>
            <a:r>
              <a:rPr lang="en-US" sz="1400" dirty="0">
                <a:solidFill>
                  <a:srgbClr val="0F172A"/>
                </a:solidFill>
              </a:rPr>
              <a:t>Covertype: Random Forest is clearly stronger.</a:t>
            </a:r>
            <a:endParaRPr lang="en-US" sz="1400" dirty="0"/>
          </a:p>
          <a:p>
            <a:r>
              <a:rPr lang="en-US" sz="1400" dirty="0">
                <a:solidFill>
                  <a:srgbClr val="0F172A"/>
                </a:solidFill>
              </a:rPr>
              <a:t>Interpretation: bagging stabilizes heterogeneous tabular structure.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653796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Ensemble Methods: Boosting vs Bagging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Noise robustness: clean test, corrupted training labels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326880" y="2834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Robustness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az-Latn-AZ"/>
          </a:p>
        </p:txBody>
      </p:sp>
      <p:pic>
        <p:nvPicPr>
          <p:cNvPr id="5" name="Image 0" descr="/mnt/data/final_generated_v3/figures/noise_robustness_mnist_3_vs_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01783"/>
            <a:ext cx="3657600" cy="2351314"/>
          </a:xfrm>
          <a:prstGeom prst="rect">
            <a:avLst/>
          </a:prstGeom>
        </p:spPr>
      </p:pic>
      <p:pic>
        <p:nvPicPr>
          <p:cNvPr id="6" name="Image 1" descr="/mnt/data/final_generated_v3/figures/noise_robustness_breast_canc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201783"/>
            <a:ext cx="3657600" cy="2351314"/>
          </a:xfrm>
          <a:prstGeom prst="rect">
            <a:avLst/>
          </a:prstGeom>
        </p:spPr>
      </p:pic>
      <p:pic>
        <p:nvPicPr>
          <p:cNvPr id="7" name="Image 2" descr="/mnt/data/final_generated_v3/figures/noise_robustness_covertype_type4_imbalanc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1334044"/>
            <a:ext cx="3246120" cy="2086791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68680" y="4251960"/>
            <a:ext cx="102412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500" dirty="0">
                <a:solidFill>
                  <a:srgbClr val="0F172A"/>
                </a:solidFill>
              </a:rPr>
              <a:t>AdaBoost can up-weight mislabeled samples because it treats them as difficult examples.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Random Forest spreads noise across bootstrap trees and averages it out.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RF is more robust, not immune: extreme noise and severe imbalance still hurt.</a:t>
            </a:r>
            <a:endParaRPr lang="en-US" sz="1500" dirty="0"/>
          </a:p>
        </p:txBody>
      </p:sp>
      <p:sp>
        <p:nvSpPr>
          <p:cNvPr id="9" name="Text 4"/>
          <p:cNvSpPr/>
          <p:nvPr/>
        </p:nvSpPr>
        <p:spPr>
          <a:xfrm>
            <a:off x="502920" y="653796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Ensemble Methods: Boosting vs Bagging</a:t>
            </a:r>
            <a:endParaRPr lang="en-US" sz="750" dirty="0"/>
          </a:p>
        </p:txBody>
      </p:sp>
      <p:sp>
        <p:nvSpPr>
          <p:cNvPr id="10" name="Text 5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Bias-variance decomposition supports the story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326880" y="2834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Theory ↔ results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az-Latn-AZ"/>
          </a:p>
        </p:txBody>
      </p:sp>
      <p:pic>
        <p:nvPicPr>
          <p:cNvPr id="5" name="Image 0" descr="/mnt/data/final_generated_v3/figures/bias_variance_de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47770"/>
            <a:ext cx="6309360" cy="35680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0" y="1234440"/>
            <a:ext cx="393192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500" dirty="0">
                <a:solidFill>
                  <a:srgbClr val="0F172A"/>
                </a:solidFill>
              </a:rPr>
              <a:t>Decision stump: high bias, low flexibility.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AdaBoost: reduces bias by correcting sequential errors.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Random Forest: reduces variance by averaging unstable trees.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Sklearn RF reference follows the same trend as our RF.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02920" y="653796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Ensemble Methods: Boosting vs Bagging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Unsupervised diagnostics: structure before classification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326880" y="2834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PCA · K-Means · DBSCAN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az-Latn-AZ"/>
          </a:p>
        </p:txBody>
      </p:sp>
      <p:pic>
        <p:nvPicPr>
          <p:cNvPr id="5" name="Image 0" descr="/mnt/data/final_generated_v3/figures/unsupervised_pca_pro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40130"/>
            <a:ext cx="3566160" cy="2674620"/>
          </a:xfrm>
          <a:prstGeom prst="rect">
            <a:avLst/>
          </a:prstGeom>
        </p:spPr>
      </p:pic>
      <p:pic>
        <p:nvPicPr>
          <p:cNvPr id="6" name="Image 1" descr="/mnt/data/final_generated_v3/figures/unsupervised_kmeans_elb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263015"/>
            <a:ext cx="3566160" cy="2228850"/>
          </a:xfrm>
          <a:prstGeom prst="rect">
            <a:avLst/>
          </a:prstGeom>
        </p:spPr>
      </p:pic>
      <p:pic>
        <p:nvPicPr>
          <p:cNvPr id="7" name="Image 2" descr="/mnt/data/final_generated_v3/figures/unsupervised_dbscan_k_dist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1377315"/>
            <a:ext cx="3200400" cy="200025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68680" y="4251960"/>
            <a:ext cx="1033272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50" dirty="0">
                <a:solidFill>
                  <a:srgbClr val="0F172A"/>
                </a:solidFill>
              </a:rPr>
              <a:t>PCA shows only partial 2D separation.</a:t>
            </a:r>
            <a:endParaRPr lang="en-US" sz="1450" dirty="0"/>
          </a:p>
          <a:p>
            <a:r>
              <a:rPr lang="en-US" sz="1450" dirty="0">
                <a:solidFill>
                  <a:srgbClr val="0F172A"/>
                </a:solidFill>
              </a:rPr>
              <a:t>K-Means elbow helps pick useful cluster counts.</a:t>
            </a:r>
            <a:endParaRPr lang="en-US" sz="1450" dirty="0"/>
          </a:p>
          <a:p>
            <a:r>
              <a:rPr lang="en-US" sz="1450" dirty="0">
                <a:solidFill>
                  <a:srgbClr val="0F172A"/>
                </a:solidFill>
              </a:rPr>
              <a:t>DBSCAN detects density structure and noise, but is sensitive to eps in high dimensions.</a:t>
            </a:r>
            <a:endParaRPr lang="en-US" sz="1450" dirty="0"/>
          </a:p>
          <a:p>
            <a:r>
              <a:rPr lang="en-US" sz="1450" dirty="0">
                <a:solidFill>
                  <a:srgbClr val="0F172A"/>
                </a:solidFill>
              </a:rPr>
              <a:t>Supervised models still need nonlinear boundaries.</a:t>
            </a:r>
            <a:endParaRPr lang="en-US" sz="1450" dirty="0"/>
          </a:p>
        </p:txBody>
      </p:sp>
      <p:sp>
        <p:nvSpPr>
          <p:cNvPr id="9" name="Text 4"/>
          <p:cNvSpPr/>
          <p:nvPr/>
        </p:nvSpPr>
        <p:spPr>
          <a:xfrm>
            <a:off x="502920" y="653796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Ensemble Methods: Boosting vs Bagging</a:t>
            </a:r>
            <a:endParaRPr lang="en-US" sz="750" dirty="0"/>
          </a:p>
        </p:txBody>
      </p:sp>
      <p:sp>
        <p:nvSpPr>
          <p:cNvPr id="10" name="Text 5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QA and reproducibility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326880" y="2834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Testing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az-Latn-AZ"/>
          </a:p>
        </p:txBody>
      </p:sp>
      <p:sp>
        <p:nvSpPr>
          <p:cNvPr id="5" name="Text 3"/>
          <p:cNvSpPr/>
          <p:nvPr/>
        </p:nvSpPr>
        <p:spPr>
          <a:xfrm>
            <a:off x="777240" y="10515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6A34A"/>
                </a:solidFill>
              </a:rPr>
              <a:t>151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77240" y="1453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tests passed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54680" y="10515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97316"/>
                </a:solidFill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3154680" y="1453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skipped integration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532120" y="10515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D4ED8"/>
                </a:solidFill>
              </a:rPr>
              <a:t>74%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532120" y="1453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Person 3 coverage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909560" y="10515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1F3A"/>
                </a:solidFill>
              </a:rPr>
              <a:t>60%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7909560" y="1453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minimum required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77240" y="2468880"/>
            <a:ext cx="1069848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500" dirty="0">
                <a:solidFill>
                  <a:srgbClr val="0F172A"/>
                </a:solidFill>
              </a:rPr>
              <a:t>RF tests: hard voting, probability sums, rare-class alignment, multiclass labels, OOB validation.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Experiment tests: utility loaders, noise injection, scaling smoke tests, coverage parsing.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Reproducibility: fixed seeds, local data files, root-level results/figures, run_all orchestration.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5257800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97316"/>
                </a:solidFill>
              </a:rPr>
              <a:t>Data files are prepared by download scripts and should not be committed.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53796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Ensemble Methods: Boosting vs Bagging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Defense readiness: what each member must defend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326880" y="2834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Contribution focus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az-Latn-AZ"/>
          </a:p>
        </p:txBody>
      </p:sp>
      <p:sp>
        <p:nvSpPr>
          <p:cNvPr id="5" name="Text 3"/>
          <p:cNvSpPr/>
          <p:nvPr/>
        </p:nvSpPr>
        <p:spPr>
          <a:xfrm>
            <a:off x="777240" y="1051560"/>
            <a:ext cx="5166360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500" dirty="0">
                <a:solidFill>
                  <a:srgbClr val="0F172A"/>
                </a:solidFill>
              </a:rPr>
              <a:t>İbrahim: Decision Tree, baseline, split logic.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Nihat: Random Forest, OOB, RF experiments, QA.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Fatma: AdaBoost, SAMME/SAMME.R, GBM bonus.</a:t>
            </a:r>
            <a:endParaRPr lang="en-US" sz="1500" dirty="0"/>
          </a:p>
          <a:p>
            <a:r>
              <a:rPr lang="en-US" sz="1500" dirty="0">
                <a:solidFill>
                  <a:srgbClr val="0F172A"/>
                </a:solidFill>
              </a:rPr>
              <a:t>Fidan: PCA, K-Means, DBSCAN, visual diagnostics.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0" y="1051560"/>
            <a:ext cx="480060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50" dirty="0">
                <a:solidFill>
                  <a:srgbClr val="0F172A"/>
                </a:solidFill>
              </a:rPr>
              <a:t>Everyone should derive AdaBoost weight update.</a:t>
            </a:r>
            <a:endParaRPr lang="en-US" sz="1450" dirty="0"/>
          </a:p>
          <a:p>
            <a:r>
              <a:rPr lang="en-US" sz="1450" dirty="0">
                <a:solidFill>
                  <a:srgbClr val="0F172A"/>
                </a:solidFill>
              </a:rPr>
              <a:t>Everyone should explain bootstrap, OOB, Gini/entropy, and bias-variance.</a:t>
            </a:r>
            <a:endParaRPr lang="en-US" sz="1450" dirty="0"/>
          </a:p>
          <a:p>
            <a:r>
              <a:rPr lang="en-US" sz="1450" dirty="0">
                <a:solidFill>
                  <a:srgbClr val="0F172A"/>
                </a:solidFill>
              </a:rPr>
              <a:t>Nihat should be ready for code-level RF questions: _fit_single_tree, predict_proba alignment, multiprocessing, and OOB.</a:t>
            </a:r>
            <a:endParaRPr lang="en-US" sz="1450" dirty="0"/>
          </a:p>
        </p:txBody>
      </p:sp>
      <p:pic>
        <p:nvPicPr>
          <p:cNvPr id="7" name="Image 0" descr="/mnt/data/final_generated_v3/figures/rf_scaling_n_estimat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260" y="4160520"/>
            <a:ext cx="2468880" cy="1508760"/>
          </a:xfrm>
          <a:prstGeom prst="rect">
            <a:avLst/>
          </a:prstGeom>
        </p:spPr>
      </p:pic>
      <p:pic>
        <p:nvPicPr>
          <p:cNvPr id="8" name="Image 1" descr="/mnt/data/final_generated_v3/figures/noise_robustness_mnist_3_vs_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9040" y="4160520"/>
            <a:ext cx="2346960" cy="1508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53796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Ensemble Methods: Boosting vs Bagging</a:t>
            </a:r>
            <a:endParaRPr lang="en-US" sz="750" dirty="0"/>
          </a:p>
        </p:txBody>
      </p:sp>
      <p:sp>
        <p:nvSpPr>
          <p:cNvPr id="10" name="Text 6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Conclusion: choose the ensemble by data condition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326880" y="2834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Final message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az-Latn-AZ"/>
          </a:p>
        </p:txBody>
      </p:sp>
      <p:sp>
        <p:nvSpPr>
          <p:cNvPr id="5" name="Text 3"/>
          <p:cNvSpPr/>
          <p:nvPr/>
        </p:nvSpPr>
        <p:spPr>
          <a:xfrm>
            <a:off x="868680" y="1143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7316"/>
                </a:solidFill>
              </a:rPr>
              <a:t>AdaBoost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1691640"/>
            <a:ext cx="256032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</a:rPr>
              <a:t>Best when labels are clean and sequential error correction can lower bias.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54880" y="11430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D4ED8"/>
                </a:solidFill>
              </a:rPr>
              <a:t>Random Forest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572000" y="1691640"/>
            <a:ext cx="292608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</a:rPr>
              <a:t>Best when robustness, variance reduction, OOB monitoring, and parallel tree fitting matter.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869680" y="1143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6A34A"/>
                </a:solidFill>
              </a:rPr>
              <a:t>Unsupervised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641080" y="1691640"/>
            <a:ext cx="269748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</a:rPr>
              <a:t>Helps explain structure, dimensionality, clusterability, and why nonlinear supervised models are needed.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3886200"/>
            <a:ext cx="103327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F3A"/>
                </a:solidFill>
              </a:rPr>
              <a:t>Final answer: Boosting lowers bias; bagging lowers variance. The winner depends on noise, imbalance, dimensionality, and stability.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34840" y="5212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97316"/>
                </a:solidFill>
              </a:rPr>
              <a:t>Thank you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02920" y="653796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Ensemble Methods: Boosting vs Bagging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1155</Words>
  <Application>Microsoft Office PowerPoint</Application>
  <PresentationFormat>Widescreen</PresentationFormat>
  <Paragraphs>173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AI Academy, National AI Center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Ensemble Methods: Boosting vs Bagging</dc:title>
  <dc:subject>Ensemble Methods: Boosting vs Bagging</dc:subject>
  <dc:creator>AI Academy Team</dc:creator>
  <cp:lastModifiedBy>Nihat Rzayev</cp:lastModifiedBy>
  <cp:revision>3</cp:revision>
  <dcterms:created xsi:type="dcterms:W3CDTF">2026-07-18T19:40:31Z</dcterms:created>
  <dcterms:modified xsi:type="dcterms:W3CDTF">2026-07-18T19:46:12Z</dcterms:modified>
</cp:coreProperties>
</file>