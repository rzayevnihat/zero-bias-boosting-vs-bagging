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054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4096" y="8458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Ensemble Methods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794096" y="13944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Boosting vs Bagging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2821528" y="203454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DEAFE"/>
                </a:solidFill>
              </a:rPr>
              <a:t>From-scratch Decision Tree, AdaBoost, Random Forest, PCA, K-Means, and DBSCAN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21528" y="26746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AI Academy · National AI Center · Spring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61447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İbrahim Mammadov · Nihat Rzayev · Fatma Mammadova · Fidan Allahverdiyeva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 and motivation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When does boosting outperform bagging, and when is bagging safer?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166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</a:rPr>
              <a:t>Boosting learns sequentially from errors; it can reduce bias but may chase mislabeled samples.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</a:rPr>
              <a:t>Bagging trains independent models on bootstrap samples; it mainly reduces variance.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</a:rPr>
              <a:t>The comparison must consider noise, imbalance, dimensionality, runtime, and stability.</a:t>
            </a:r>
            <a:endParaRPr lang="en-US" sz="1600" dirty="0"/>
          </a:p>
        </p:txBody>
      </p:sp>
      <p:pic>
        <p:nvPicPr>
          <p:cNvPr id="7" name="Image 0" descr="/mnt/data/final_generated_v3/figures/bias_varianc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94" y="1417320"/>
            <a:ext cx="5093252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49377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Core defense line: boosting lowers bias; bagging lowers variance.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Data, preprocessing, and reproducibility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7548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Local data files prepared by download scripts: WDBC, Adult, Covertype, MNIST 3-vs-8.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Train/test splits use fixed random_state and stratification.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Scaler is fitted on training data only to avoid leakage.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Raw dataset files are reproducible and should not be committed.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06440" y="100584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 |   Task   |   Size /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WDBC   |   binary   |   569 /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   |   binary   |   5,000 / 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Covertype   |   multi/imb.   |   5,000-10,000 / 54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MNIST 3-vs-8   |   binary   |   5,000 / 784</a:t>
            </a:r>
            <a:endParaRPr lang="en-US" sz="1100" dirty="0"/>
          </a:p>
        </p:txBody>
      </p:sp>
      <p:pic>
        <p:nvPicPr>
          <p:cNvPr id="7" name="Image 0" descr="/mnt/data/final_generated_v3/figures/unsupervised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3703320"/>
            <a:ext cx="2804160" cy="2103120"/>
          </a:xfrm>
          <a:prstGeom prst="rect">
            <a:avLst/>
          </a:prstGeom>
        </p:spPr>
      </p:pic>
      <p:pic>
        <p:nvPicPr>
          <p:cNvPr id="8" name="Image 1" descr="/mnt/data/final_generated_v3/figures/unsupervised_pca_sc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726180"/>
            <a:ext cx="3291840" cy="2057400"/>
          </a:xfrm>
          <a:prstGeom prst="rect">
            <a:avLst/>
          </a:prstGeom>
        </p:spPr>
      </p:pic>
      <p:pic>
        <p:nvPicPr>
          <p:cNvPr id="9" name="Image 2" descr="/mnt/data/final_generated_v3/figures/unsupervised_kmeans_elb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726180"/>
            <a:ext cx="3291840" cy="2057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architecture and work split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66928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0F172A"/>
                </a:solidFill>
              </a:rPr>
              <a:t>trees/: CART Decision Tree, impurity, splitter, stopping logic.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boosting/: AdaBoost, SAMME/SAMME.R, Gradient Boosting bonus.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bagging/: RandomForestClassifier with OOB and multiprocessing.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unsupervised/: PCA, K-Means, DBSCAN.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experiments/: run_all, scaling, noise, CV, bias-variance, QA.</a:t>
            </a:r>
            <a:endParaRPr lang="en-US" sz="1350" dirty="0"/>
          </a:p>
          <a:p>
            <a:r>
              <a:rPr lang="en-US" sz="1350" dirty="0">
                <a:solidFill>
                  <a:srgbClr val="0F172A"/>
                </a:solidFill>
              </a:rPr>
              <a:t>tests/: 151 passed, 1 skipped in latest local verification.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12280" y="1335023"/>
            <a:ext cx="45262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All main ML algorithms are implemented from scratch.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scikit-learn is used only for utilities, metrics, splitting, and references.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Deliverables include code, tests, report, slides, notebooks, figures, and contribution report.</a:t>
            </a:r>
            <a:endParaRPr lang="en-US" sz="1400" dirty="0"/>
          </a:p>
        </p:txBody>
      </p:sp>
      <p:pic>
        <p:nvPicPr>
          <p:cNvPr id="7" name="Image 0" descr="/mnt/data/final_generated_v3/figures/gbm_comparison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07" y="3377414"/>
            <a:ext cx="7832785" cy="31331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 baseline validates the foundation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Decision Tree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42976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CART-style binary split: x_j &lt;= threshold.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Criteria: Gini and entropy.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Best split maximizes weighted impurity reduction.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Sample-weight support enables AdaBoost.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4206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|   Acc   |   Macro F1   |   AUC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MyTree   |   0.930   |   0.924   |   0.920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MyStump   |   0.877   |   0.860   |   0.843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ref   |   0.930   |   0.925   |   0.925</a:t>
            </a:r>
            <a:endParaRPr lang="en-US" sz="1200" dirty="0"/>
          </a:p>
        </p:txBody>
      </p:sp>
      <p:pic>
        <p:nvPicPr>
          <p:cNvPr id="7" name="Image 0" descr="/mnt/data/final_generated_v3/figures/adaboost_scaling_wd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417320"/>
            <a:ext cx="6217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AdaBoost scaling: sequential error correction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Boosting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9319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Decision stumps are weak learners.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Misclassified samples receive larger weights.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Estimator vote weight depends on weighted error.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Strength: clean structured data. Risk: noisy labels.</a:t>
            </a:r>
            <a:endParaRPr lang="en-US" sz="1500" dirty="0"/>
          </a:p>
        </p:txBody>
      </p:sp>
      <p:pic>
        <p:nvPicPr>
          <p:cNvPr id="6" name="Image 0" descr="/mnt/data/final_generated_v3/figures/adaboost_scaling_wd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22985"/>
            <a:ext cx="3383280" cy="2114550"/>
          </a:xfrm>
          <a:prstGeom prst="rect">
            <a:avLst/>
          </a:prstGeom>
        </p:spPr>
      </p:pic>
      <p:pic>
        <p:nvPicPr>
          <p:cNvPr id="7" name="Image 1" descr="/mnt/data/final_generated_v3/figures/adaboost_scaling_ad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094423"/>
            <a:ext cx="3154680" cy="1971675"/>
          </a:xfrm>
          <a:prstGeom prst="rect">
            <a:avLst/>
          </a:prstGeom>
        </p:spPr>
      </p:pic>
      <p:pic>
        <p:nvPicPr>
          <p:cNvPr id="8" name="Image 2" descr="/mnt/data/final_generated_v3/figures/adaboost_scaling_cover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657600"/>
            <a:ext cx="3218688" cy="2011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 3 focus: Random Forest internals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4ED8"/>
                </a:solidFill>
              </a:rPr>
              <a:t>~63.2%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1453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unique in-bag rows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8328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97316"/>
                </a:solidFill>
              </a:rPr>
              <a:t>~36.8%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383280" y="1453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out-of-bag rows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A34A"/>
                </a:solidFill>
              </a:rPr>
              <a:t>sqrt(p)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943600" y="1453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features per node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0392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</a:rPr>
              <a:t>hard vote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03920" y="1453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predict()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103327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Each tree is trained on a bootstrap sample with replacement.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Every node searches only a random subset of features to reduce tree correlation.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OOB score uses trees that did not see a sample during training.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Key QA edge case: a tree may miss a rare class; probabilities are aligned to global classes.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Implementation: private CART tree + RandomForestClassifier + process-based multiprocessing.Pool.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scaling: estimators and depth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 results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pic>
        <p:nvPicPr>
          <p:cNvPr id="5" name="Image 0" descr="/mnt/data/final_generated_v3/figures/rf_scaling_n_estim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08862"/>
            <a:ext cx="5532120" cy="3380740"/>
          </a:xfrm>
          <a:prstGeom prst="rect">
            <a:avLst/>
          </a:prstGeom>
        </p:spPr>
      </p:pic>
      <p:pic>
        <p:nvPicPr>
          <p:cNvPr id="6" name="Image 1" descr="/mnt/data/final_generated_v3/figures/rf_scaling_max_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92682"/>
            <a:ext cx="5257800" cy="321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5321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Increasing trees stabilizes OOB/test curves; depth controls underfitting vs. individual-tree variance.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Head-to-head CV: fixed estimator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Comparison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pic>
        <p:nvPicPr>
          <p:cNvPr id="5" name="Image 0" descr="/mnt/data/final_generated_v3/figures/head_to_head_macro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9314"/>
            <a:ext cx="6126480" cy="3982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234440"/>
            <a:ext cx="43434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 |   AdaBoost   |   RF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WDBC   |   0.967   |   0.956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   |   0.848   |   0.849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Covertype   |   0.483   |   0.829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1605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WDBC: both models are strong.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Adult: close performance.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Covertype: Random Forest is clearly stronger.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Interpretation: bagging stabilizes heterogeneous tabular structure.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Noise robustness: clean test, corrupted training labels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Robustness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pic>
        <p:nvPicPr>
          <p:cNvPr id="5" name="Image 0" descr="/mnt/data/final_generated_v3/figures/noise_robustness_mnist_3_vs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01783"/>
            <a:ext cx="3657600" cy="2351314"/>
          </a:xfrm>
          <a:prstGeom prst="rect">
            <a:avLst/>
          </a:prstGeom>
        </p:spPr>
      </p:pic>
      <p:pic>
        <p:nvPicPr>
          <p:cNvPr id="6" name="Image 1" descr="/mnt/data/final_generated_v3/figures/noise_robustness_breast_canc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01783"/>
            <a:ext cx="3657600" cy="2351314"/>
          </a:xfrm>
          <a:prstGeom prst="rect">
            <a:avLst/>
          </a:prstGeom>
        </p:spPr>
      </p:pic>
      <p:pic>
        <p:nvPicPr>
          <p:cNvPr id="7" name="Image 2" descr="/mnt/data/final_generated_v3/figures/noise_robustness_covertype_type4_imbalanc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334044"/>
            <a:ext cx="3246120" cy="20867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251960"/>
            <a:ext cx="10241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AdaBoost can up-weight mislabeled samples because it treats them as difficult examples.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Random Forest spreads noise across bootstrap trees and averages it out.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RF is more robust, not immune: extreme noise and severe imbalance still hurt.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Bias-variance decomposition supports the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Theory ↔ results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pic>
        <p:nvPicPr>
          <p:cNvPr id="5" name="Image 0" descr="/mnt/data/final_generated_v3/figures/bias_variance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47770"/>
            <a:ext cx="6309360" cy="3568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1234440"/>
            <a:ext cx="39319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Decision stump: high bias, low flexibility.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AdaBoost: reduces bias by correcting sequential errors.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Random Forest: reduces variance by averaging unstable trees.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Sklearn RF reference follows the same trend as our RF.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diagnostics: structure before classification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PCA · K-Means · DBSCAN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pic>
        <p:nvPicPr>
          <p:cNvPr id="5" name="Image 0" descr="/mnt/data/final_generated_v3/figures/unsupervised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40130"/>
            <a:ext cx="3566160" cy="2674620"/>
          </a:xfrm>
          <a:prstGeom prst="rect">
            <a:avLst/>
          </a:prstGeom>
        </p:spPr>
      </p:pic>
      <p:pic>
        <p:nvPicPr>
          <p:cNvPr id="6" name="Image 1" descr="/mnt/data/final_generated_v3/figures/unsupervised_kmeans_elb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63015"/>
            <a:ext cx="3566160" cy="2228850"/>
          </a:xfrm>
          <a:prstGeom prst="rect">
            <a:avLst/>
          </a:prstGeom>
        </p:spPr>
      </p:pic>
      <p:pic>
        <p:nvPicPr>
          <p:cNvPr id="7" name="Image 2" descr="/mnt/data/final_generated_v3/figures/unsupervised_dbscan_k_dis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377315"/>
            <a:ext cx="3200400" cy="2000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4251960"/>
            <a:ext cx="10332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PCA shows only partial 2D separation.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K-Means elbow helps pick useful cluster counts.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DBSCAN detects density structure and noise, but is sensitive to eps in high dimensions.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Supervised models still need nonlinear boundaries.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and reproducibility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Testing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A34A"/>
                </a:solidFill>
              </a:rPr>
              <a:t>151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1453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tests passed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15468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97316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154680" y="1453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skipped integration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3212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4ED8"/>
                </a:solidFill>
              </a:rPr>
              <a:t>74%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32120" y="1453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Person 3 coverage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09560" y="1051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</a:rPr>
              <a:t>60%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909560" y="1453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minimum required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106984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RF tests: hard voting, probability sums, rare-class alignment, multiclass labels, OOB validation.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Experiment tests: utility loaders, noise injection, scaling smoke tests, coverage parsing.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Reproducibility: fixed seeds, local data files, root-level results/figures, run_all orchestration.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Data files are prepared by download scripts and should not be committed.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Defense readiness: what each member must defend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Contribution focus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51663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</a:rPr>
              <a:t>İbrahim: Decision Tree, baseline, split logic.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Nihat: Random Forest, OOB, RF experiments, QA.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Fatma: AdaBoost, SAMME/SAMME.R, GBM bonus.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</a:rPr>
              <a:t>Fidan: PCA, K-Means, DBSCAN, visual diagnostics.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48006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Everyone should derive AdaBoost weight update.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Everyone should explain bootstrap, OOB, Gini/entropy, and bias-variance.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Nihat should be ready for code-level RF questions: _fit_single_tree, predict_proba alignment, multiprocessing, and OOB.</a:t>
            </a:r>
            <a:endParaRPr lang="en-US" sz="1450" dirty="0"/>
          </a:p>
        </p:txBody>
      </p:sp>
      <p:pic>
        <p:nvPicPr>
          <p:cNvPr id="7" name="Image 0" descr="/mnt/data/final_generated_v3/figures/rf_scaling_n_estim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4160520"/>
            <a:ext cx="2468880" cy="1508760"/>
          </a:xfrm>
          <a:prstGeom prst="rect">
            <a:avLst/>
          </a:prstGeom>
        </p:spPr>
      </p:pic>
      <p:pic>
        <p:nvPicPr>
          <p:cNvPr id="8" name="Image 1" descr="/mnt/data/final_generated_v3/figures/noise_robustness_mnist_3_vs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160520"/>
            <a:ext cx="2346960" cy="1508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choose the ensemble by data condition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0" y="283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Final message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</a:rPr>
              <a:t>AdaBoost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Best when labels are clean and sequential error correction can lower bias.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</a:rPr>
              <a:t>Random Forest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Best when robustness, variance reduction, OOB monitoring, and parallel tree fitting matter.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Unsupervised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41080" y="1691640"/>
            <a:ext cx="26974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Helps explain structure, dimensionality, clusterability, and why nonlinear supervised models are needed.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0332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</a:rPr>
              <a:t>Final answer: Boosting lowers bias; bagging lowers variance. The winner depends on noise, imbalance, dimensionality, and stability.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3484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Ensemble Methods: Boosting vs Bagging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</Words>
  <Application>Microsoft Office PowerPoint</Application>
  <PresentationFormat>Widescreen</PresentationFormat>
  <Paragraphs>173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 Academy, National AI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Methods: Boosting vs Bagging</dc:title>
  <dc:subject>Ensemble Methods: Boosting vs Bagging</dc:subject>
  <dc:creator>AI Academy Team</dc:creator>
  <cp:lastModifiedBy>Nihat Rzayev</cp:lastModifiedBy>
  <cp:revision>3</cp:revision>
  <dcterms:created xsi:type="dcterms:W3CDTF">2026-07-18T19:40:31Z</dcterms:created>
  <dcterms:modified xsi:type="dcterms:W3CDTF">2026-07-18T19:46:58Z</dcterms:modified>
</cp:coreProperties>
</file>